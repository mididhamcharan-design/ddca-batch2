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4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lakshmi devireddy" userId="ef0ee21453d2b9f6" providerId="LiveId" clId="{CF6E96AD-F576-438C-B1F3-E586BCDBDDC6}"/>
    <pc:docChg chg="undo custSel delSld modSld">
      <pc:chgData name="srilakshmi devireddy" userId="ef0ee21453d2b9f6" providerId="LiveId" clId="{CF6E96AD-F576-438C-B1F3-E586BCDBDDC6}" dt="2026-09-11T07:56:50.058" v="524" actId="1076"/>
      <pc:docMkLst>
        <pc:docMk/>
      </pc:docMkLst>
      <pc:sldChg chg="addSp delSp modSp mod">
        <pc:chgData name="srilakshmi devireddy" userId="ef0ee21453d2b9f6" providerId="LiveId" clId="{CF6E96AD-F576-438C-B1F3-E586BCDBDDC6}" dt="2026-09-11T07:56:50.058" v="524" actId="1076"/>
        <pc:sldMkLst>
          <pc:docMk/>
          <pc:sldMk cId="0" sldId="256"/>
        </pc:sldMkLst>
        <pc:spChg chg="mod">
          <ac:chgData name="srilakshmi devireddy" userId="ef0ee21453d2b9f6" providerId="LiveId" clId="{CF6E96AD-F576-438C-B1F3-E586BCDBDDC6}" dt="2026-09-11T07:55:59.559" v="506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srilakshmi devireddy" userId="ef0ee21453d2b9f6" providerId="LiveId" clId="{CF6E96AD-F576-438C-B1F3-E586BCDBDDC6}" dt="2026-09-11T07:46:19.639" v="41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srilakshmi devireddy" userId="ef0ee21453d2b9f6" providerId="LiveId" clId="{CF6E96AD-F576-438C-B1F3-E586BCDBDDC6}" dt="2026-09-11T07:56:24.052" v="518" actId="1076"/>
          <ac:spMkLst>
            <pc:docMk/>
            <pc:sldMk cId="0" sldId="256"/>
            <ac:spMk id="7" creationId="{00000000-0000-0000-0000-000000000000}"/>
          </ac:spMkLst>
        </pc:spChg>
        <pc:spChg chg="add del mod">
          <ac:chgData name="srilakshmi devireddy" userId="ef0ee21453d2b9f6" providerId="LiveId" clId="{CF6E96AD-F576-438C-B1F3-E586BCDBDDC6}" dt="2026-09-11T07:56:26.253" v="520"/>
          <ac:spMkLst>
            <pc:docMk/>
            <pc:sldMk cId="0" sldId="256"/>
            <ac:spMk id="8" creationId="{00000000-0000-0000-0000-000000000000}"/>
          </ac:spMkLst>
        </pc:spChg>
        <pc:spChg chg="add del">
          <ac:chgData name="srilakshmi devireddy" userId="ef0ee21453d2b9f6" providerId="LiveId" clId="{CF6E96AD-F576-438C-B1F3-E586BCDBDDC6}" dt="2026-09-11T07:45:49.070" v="30" actId="478"/>
          <ac:spMkLst>
            <pc:docMk/>
            <pc:sldMk cId="0" sldId="256"/>
            <ac:spMk id="9" creationId="{00000000-0000-0000-0000-000000000000}"/>
          </ac:spMkLst>
        </pc:spChg>
        <pc:spChg chg="mod">
          <ac:chgData name="srilakshmi devireddy" userId="ef0ee21453d2b9f6" providerId="LiveId" clId="{CF6E96AD-F576-438C-B1F3-E586BCDBDDC6}" dt="2026-09-11T07:47:03.293" v="57" actId="14100"/>
          <ac:spMkLst>
            <pc:docMk/>
            <pc:sldMk cId="0" sldId="256"/>
            <ac:spMk id="10" creationId="{00000000-0000-0000-0000-000000000000}"/>
          </ac:spMkLst>
        </pc:spChg>
        <pc:spChg chg="add del mod">
          <ac:chgData name="srilakshmi devireddy" userId="ef0ee21453d2b9f6" providerId="LiveId" clId="{CF6E96AD-F576-438C-B1F3-E586BCDBDDC6}" dt="2026-09-11T07:46:33.113" v="46" actId="478"/>
          <ac:spMkLst>
            <pc:docMk/>
            <pc:sldMk cId="0" sldId="256"/>
            <ac:spMk id="11" creationId="{00000000-0000-0000-0000-000000000000}"/>
          </ac:spMkLst>
        </pc:spChg>
        <pc:spChg chg="add del mod">
          <ac:chgData name="srilakshmi devireddy" userId="ef0ee21453d2b9f6" providerId="LiveId" clId="{CF6E96AD-F576-438C-B1F3-E586BCDBDDC6}" dt="2026-09-11T07:46:33.122" v="48"/>
          <ac:spMkLst>
            <pc:docMk/>
            <pc:sldMk cId="0" sldId="256"/>
            <ac:spMk id="12" creationId="{00000000-0000-0000-0000-000000000000}"/>
          </ac:spMkLst>
        </pc:spChg>
        <pc:spChg chg="mod">
          <ac:chgData name="srilakshmi devireddy" userId="ef0ee21453d2b9f6" providerId="LiveId" clId="{CF6E96AD-F576-438C-B1F3-E586BCDBDDC6}" dt="2026-09-11T07:44:27.684" v="2" actId="1076"/>
          <ac:spMkLst>
            <pc:docMk/>
            <pc:sldMk cId="0" sldId="256"/>
            <ac:spMk id="13" creationId="{00000000-0000-0000-0000-000000000000}"/>
          </ac:spMkLst>
        </pc:spChg>
        <pc:spChg chg="add">
          <ac:chgData name="srilakshmi devireddy" userId="ef0ee21453d2b9f6" providerId="LiveId" clId="{CF6E96AD-F576-438C-B1F3-E586BCDBDDC6}" dt="2026-09-11T07:54:51.396" v="486" actId="22"/>
          <ac:spMkLst>
            <pc:docMk/>
            <pc:sldMk cId="0" sldId="256"/>
            <ac:spMk id="15" creationId="{85632FA9-904F-A9B8-B0BD-41D025535EF8}"/>
          </ac:spMkLst>
        </pc:spChg>
        <pc:spChg chg="add del">
          <ac:chgData name="srilakshmi devireddy" userId="ef0ee21453d2b9f6" providerId="LiveId" clId="{CF6E96AD-F576-438C-B1F3-E586BCDBDDC6}" dt="2026-09-11T07:55:00.118" v="490" actId="22"/>
          <ac:spMkLst>
            <pc:docMk/>
            <pc:sldMk cId="0" sldId="256"/>
            <ac:spMk id="17" creationId="{95223348-17D0-C69D-56D3-FC724F2063AC}"/>
          </ac:spMkLst>
        </pc:spChg>
        <pc:spChg chg="add del">
          <ac:chgData name="srilakshmi devireddy" userId="ef0ee21453d2b9f6" providerId="LiveId" clId="{CF6E96AD-F576-438C-B1F3-E586BCDBDDC6}" dt="2026-09-11T07:54:59.840" v="489" actId="22"/>
          <ac:spMkLst>
            <pc:docMk/>
            <pc:sldMk cId="0" sldId="256"/>
            <ac:spMk id="19" creationId="{E0C62866-07DF-229B-29D5-4BECA073F563}"/>
          </ac:spMkLst>
        </pc:spChg>
        <pc:spChg chg="add mod">
          <ac:chgData name="srilakshmi devireddy" userId="ef0ee21453d2b9f6" providerId="LiveId" clId="{CF6E96AD-F576-438C-B1F3-E586BCDBDDC6}" dt="2026-09-11T07:56:50.058" v="524" actId="1076"/>
          <ac:spMkLst>
            <pc:docMk/>
            <pc:sldMk cId="0" sldId="256"/>
            <ac:spMk id="21" creationId="{DE6DC1DA-35BD-8E21-FA73-5AA605BEC686}"/>
          </ac:spMkLst>
        </pc:spChg>
      </pc:sldChg>
      <pc:sldChg chg="del">
        <pc:chgData name="srilakshmi devireddy" userId="ef0ee21453d2b9f6" providerId="LiveId" clId="{CF6E96AD-F576-438C-B1F3-E586BCDBDDC6}" dt="2026-09-11T07:44:36.275" v="3" actId="2696"/>
        <pc:sldMkLst>
          <pc:docMk/>
          <pc:sldMk cId="0" sldId="262"/>
        </pc:sldMkLst>
      </pc:sldChg>
      <pc:sldChg chg="addSp delSp modSp mod">
        <pc:chgData name="srilakshmi devireddy" userId="ef0ee21453d2b9f6" providerId="LiveId" clId="{CF6E96AD-F576-438C-B1F3-E586BCDBDDC6}" dt="2026-09-11T07:44:44.945" v="7" actId="20577"/>
        <pc:sldMkLst>
          <pc:docMk/>
          <pc:sldMk cId="0" sldId="263"/>
        </pc:sldMkLst>
        <pc:spChg chg="add del">
          <ac:chgData name="srilakshmi devireddy" userId="ef0ee21453d2b9f6" providerId="LiveId" clId="{CF6E96AD-F576-438C-B1F3-E586BCDBDDC6}" dt="2026-09-11T07:44:41.376" v="5" actId="478"/>
          <ac:spMkLst>
            <pc:docMk/>
            <pc:sldMk cId="0" sldId="263"/>
            <ac:spMk id="4" creationId="{00000000-0000-0000-0000-000000000000}"/>
          </ac:spMkLst>
        </pc:spChg>
        <pc:spChg chg="mod">
          <ac:chgData name="srilakshmi devireddy" userId="ef0ee21453d2b9f6" providerId="LiveId" clId="{CF6E96AD-F576-438C-B1F3-E586BCDBDDC6}" dt="2026-09-11T07:44:44.945" v="7" actId="20577"/>
          <ac:spMkLst>
            <pc:docMk/>
            <pc:sldMk cId="0" sldId="263"/>
            <ac:spMk id="7" creationId="{00000000-0000-0000-0000-000000000000}"/>
          </ac:spMkLst>
        </pc:spChg>
      </pc:sldChg>
      <pc:sldChg chg="modSp mod">
        <pc:chgData name="srilakshmi devireddy" userId="ef0ee21453d2b9f6" providerId="LiveId" clId="{CF6E96AD-F576-438C-B1F3-E586BCDBDDC6}" dt="2026-09-11T07:44:50.779" v="9" actId="20577"/>
        <pc:sldMkLst>
          <pc:docMk/>
          <pc:sldMk cId="0" sldId="264"/>
        </pc:sldMkLst>
        <pc:spChg chg="mod">
          <ac:chgData name="srilakshmi devireddy" userId="ef0ee21453d2b9f6" providerId="LiveId" clId="{CF6E96AD-F576-438C-B1F3-E586BCDBDDC6}" dt="2026-09-11T07:44:50.779" v="9" actId="20577"/>
          <ac:spMkLst>
            <pc:docMk/>
            <pc:sldMk cId="0" sldId="264"/>
            <ac:spMk id="7" creationId="{00000000-0000-0000-0000-000000000000}"/>
          </ac:spMkLst>
        </pc:spChg>
      </pc:sldChg>
      <pc:sldChg chg="addSp delSp modSp mod">
        <pc:chgData name="srilakshmi devireddy" userId="ef0ee21453d2b9f6" providerId="LiveId" clId="{CF6E96AD-F576-438C-B1F3-E586BCDBDDC6}" dt="2026-09-11T07:45:04.438" v="15" actId="20577"/>
        <pc:sldMkLst>
          <pc:docMk/>
          <pc:sldMk cId="0" sldId="265"/>
        </pc:sldMkLst>
        <pc:spChg chg="add del mod">
          <ac:chgData name="srilakshmi devireddy" userId="ef0ee21453d2b9f6" providerId="LiveId" clId="{CF6E96AD-F576-438C-B1F3-E586BCDBDDC6}" dt="2026-09-11T07:45:04.438" v="15" actId="20577"/>
          <ac:spMkLst>
            <pc:docMk/>
            <pc:sldMk cId="0" sldId="265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C"/>
          </a:solidFill>
          <a:ln>
            <a:solidFill>
              <a:srgbClr val="070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9CFF"/>
          </a:solidFill>
          <a:ln>
            <a:solidFill>
              <a:srgbClr val="43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44200" y="-502920"/>
            <a:ext cx="1828800" cy="1828800"/>
          </a:xfrm>
          <a:prstGeom prst="ellipse">
            <a:avLst/>
          </a:prstGeom>
          <a:solidFill>
            <a:srgbClr val="102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0C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395344"/>
            <a:ext cx="3657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4ADDEF"/>
                </a:solidFill>
                <a:latin typeface="Aptos"/>
              </a:defRPr>
            </a:pPr>
            <a:r>
              <a:rPr dirty="0"/>
              <a:t>DIGITAL LOGIC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1340" y="829203"/>
            <a:ext cx="10493188" cy="193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000" b="1">
                <a:solidFill>
                  <a:srgbClr val="F5F8FF"/>
                </a:solidFill>
                <a:latin typeface="Aptos"/>
              </a:defRPr>
            </a:pPr>
            <a:r>
              <a:rPr lang="en-IN" sz="4000" dirty="0"/>
              <a:t>                   </a:t>
            </a:r>
            <a:r>
              <a:rPr sz="4000" dirty="0"/>
              <a:t>Design and Simulation of a</a:t>
            </a:r>
            <a:br>
              <a:rPr sz="4000" dirty="0"/>
            </a:br>
            <a:r>
              <a:rPr lang="en-IN" sz="4000" dirty="0"/>
              <a:t>                       </a:t>
            </a:r>
            <a:r>
              <a:rPr sz="4000" dirty="0"/>
              <a:t>4-Bit Binary-to-Decimal</a:t>
            </a:r>
            <a:br>
              <a:rPr sz="4000" dirty="0"/>
            </a:br>
            <a:r>
              <a:rPr lang="en-IN" sz="4000" dirty="0"/>
              <a:t>                </a:t>
            </a:r>
            <a:r>
              <a:rPr sz="4000" dirty="0"/>
              <a:t>Conversion and Display System</a:t>
            </a:r>
          </a:p>
        </p:txBody>
      </p:sp>
      <p:sp>
        <p:nvSpPr>
          <p:cNvPr id="10" name="Rectangle 9"/>
          <p:cNvSpPr/>
          <p:nvPr/>
        </p:nvSpPr>
        <p:spPr>
          <a:xfrm rot="16200000" flipH="1">
            <a:off x="6090980" y="-2524102"/>
            <a:ext cx="180368" cy="11519648"/>
          </a:xfrm>
          <a:prstGeom prst="rect">
            <a:avLst/>
          </a:prstGeom>
          <a:solidFill>
            <a:srgbClr val="4ADDEF"/>
          </a:solidFill>
          <a:ln>
            <a:solidFill>
              <a:srgbClr val="4A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47120" y="395344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400" b="1">
                <a:solidFill>
                  <a:srgbClr val="439CFF"/>
                </a:solidFill>
                <a:latin typeface="Aptos"/>
              </a:defRPr>
            </a:pPr>
            <a:r>
              <a:rPr dirty="0"/>
              <a:t>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632FA9-904F-A9B8-B0BD-41D025535EF8}"/>
              </a:ext>
            </a:extLst>
          </p:cNvPr>
          <p:cNvSpPr txBox="1"/>
          <p:nvPr/>
        </p:nvSpPr>
        <p:spPr>
          <a:xfrm>
            <a:off x="658907" y="3945763"/>
            <a:ext cx="72237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ABBBD5"/>
                </a:solidFill>
                <a:latin typeface="Aptos"/>
              </a:defRPr>
            </a:pPr>
            <a:endParaRPr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6DC1DA-35BD-8E21-FA73-5AA605BEC686}"/>
              </a:ext>
            </a:extLst>
          </p:cNvPr>
          <p:cNvSpPr txBox="1"/>
          <p:nvPr/>
        </p:nvSpPr>
        <p:spPr>
          <a:xfrm>
            <a:off x="421340" y="3524246"/>
            <a:ext cx="7223760" cy="21544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ABBBD5"/>
                </a:solidFill>
                <a:latin typeface="Aptos"/>
              </a:defRPr>
            </a:pPr>
            <a:r>
              <a:rPr lang="en-US" sz="2000" dirty="0"/>
              <a:t>NAME:SANJAY KILARI               ROLLNO:2620030215</a:t>
            </a:r>
          </a:p>
          <a:p>
            <a:pPr>
              <a:defRPr sz="1400" b="0">
                <a:solidFill>
                  <a:srgbClr val="ABBBD5"/>
                </a:solidFill>
                <a:latin typeface="Aptos"/>
              </a:defRPr>
            </a:pPr>
            <a:r>
              <a:rPr lang="en-US" sz="2000" dirty="0"/>
              <a:t>NAME :SRI DEEKSHITH            ROLLNO:2620030285</a:t>
            </a:r>
          </a:p>
          <a:p>
            <a:pPr>
              <a:defRPr sz="1400" b="0">
                <a:solidFill>
                  <a:srgbClr val="ABBBD5"/>
                </a:solidFill>
                <a:latin typeface="Aptos"/>
              </a:defRPr>
            </a:pPr>
            <a:r>
              <a:rPr lang="en-US" sz="2000" dirty="0"/>
              <a:t>NAME:D. VISHNU SAI                ROLLNO:2620030306</a:t>
            </a:r>
          </a:p>
          <a:p>
            <a:pPr>
              <a:defRPr sz="1400" b="0">
                <a:solidFill>
                  <a:srgbClr val="ABBBD5"/>
                </a:solidFill>
                <a:latin typeface="Aptos"/>
              </a:defRPr>
            </a:pPr>
            <a:r>
              <a:rPr lang="en-US" sz="2000" dirty="0"/>
              <a:t>NAME: M.CHARAN TEJ              ROLLNO:2620030291</a:t>
            </a:r>
          </a:p>
          <a:p>
            <a:pPr>
              <a:defRPr sz="1400" b="0">
                <a:solidFill>
                  <a:srgbClr val="ABBBD5"/>
                </a:solidFill>
                <a:latin typeface="Aptos"/>
              </a:defRPr>
            </a:pPr>
            <a:endParaRPr lang="en-US" sz="2000" dirty="0"/>
          </a:p>
          <a:p>
            <a:pPr>
              <a:defRPr sz="1400" b="0">
                <a:solidFill>
                  <a:srgbClr val="ABBBD5"/>
                </a:solidFill>
                <a:latin typeface="Aptos"/>
              </a:defRPr>
            </a:pPr>
            <a:r>
              <a:rPr lang="en-US" sz="2000" dirty="0"/>
              <a:t>GROUP:2</a:t>
            </a:r>
          </a:p>
          <a:p>
            <a:pPr>
              <a:defRPr sz="1400" b="0">
                <a:solidFill>
                  <a:srgbClr val="ABBBD5"/>
                </a:solidFill>
                <a:latin typeface="Aptos"/>
              </a:defRPr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C"/>
          </a:solidFill>
          <a:ln>
            <a:solidFill>
              <a:srgbClr val="070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9CFF"/>
          </a:solidFill>
          <a:ln>
            <a:solidFill>
              <a:srgbClr val="43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44200" y="-502920"/>
            <a:ext cx="1828800" cy="1828800"/>
          </a:xfrm>
          <a:prstGeom prst="ellipse">
            <a:avLst/>
          </a:prstGeom>
          <a:solidFill>
            <a:srgbClr val="102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0C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4ADDE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ABBBD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8FF"/>
                </a:solidFill>
                <a:latin typeface="Aptos"/>
              </a:defRPr>
            </a:pPr>
            <a:r>
              <a:t>From Binary Bits to a Visible Digit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353312"/>
            <a:ext cx="10424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BBBD5"/>
                </a:solidFill>
                <a:latin typeface="Aptos"/>
              </a:defRPr>
            </a:pPr>
            <a:r>
              <a:t>Background • domain overview • importance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65960"/>
            <a:ext cx="3474720" cy="342900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54864" cy="3429000"/>
          </a:xfrm>
          <a:prstGeom prst="rect">
            <a:avLst/>
          </a:prstGeom>
          <a:solidFill>
            <a:srgbClr val="439CFF"/>
          </a:solidFill>
          <a:ln>
            <a:solidFill>
              <a:srgbClr val="43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2103120"/>
            <a:ext cx="30906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WHAT IS THE PROJECT?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478024"/>
            <a:ext cx="3090672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ABBBD5"/>
                </a:solidFill>
                <a:latin typeface="Aptos"/>
              </a:defRPr>
            </a:pPr>
            <a:r>
              <a:t>A 4-bit binary input is converted into its corresponding decimal value from 0 to 9 and then represented on a 7-segment display.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965960"/>
            <a:ext cx="3474720" cy="342900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1965960"/>
            <a:ext cx="54864" cy="3429000"/>
          </a:xfrm>
          <a:prstGeom prst="rect">
            <a:avLst/>
          </a:prstGeom>
          <a:solidFill>
            <a:srgbClr val="8564FF"/>
          </a:solidFill>
          <a:ln>
            <a:solidFill>
              <a:srgbClr val="85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2103120"/>
            <a:ext cx="30906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DIGITAL LOGIC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478024"/>
            <a:ext cx="3090672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ABBBD5"/>
                </a:solidFill>
                <a:latin typeface="Aptos"/>
              </a:defRPr>
            </a:pPr>
            <a:r>
              <a:t>The system uses combinational logic, Boolean expressions, NOT gates, AND gates, decoding stages, and 7-segment segment control.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965960"/>
            <a:ext cx="3474720" cy="342900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1965960"/>
            <a:ext cx="54864" cy="3429000"/>
          </a:xfrm>
          <a:prstGeom prst="rect">
            <a:avLst/>
          </a:prstGeom>
          <a:solidFill>
            <a:srgbClr val="4ADDEF"/>
          </a:solidFill>
          <a:ln>
            <a:solidFill>
              <a:srgbClr val="4A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47888" y="2103120"/>
            <a:ext cx="30906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478024"/>
            <a:ext cx="3090672" cy="2788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ABBBD5"/>
                </a:solidFill>
                <a:latin typeface="Aptos"/>
              </a:defRPr>
            </a:pPr>
            <a:r>
              <a:t>It demonstrates how digital systems translate encoded binary information into a human-readable decimal output and provides a practical simulation exercise.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BBBD5"/>
                </a:solidFill>
                <a:latin typeface="Aptos"/>
              </a:defRPr>
            </a:pPr>
            <a:r>
              <a:t>4-Bit Binary-to-Decimal Conversion &amp; Display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510528"/>
            <a:ext cx="3063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BBBD5"/>
                </a:solidFill>
                <a:latin typeface="Aptos"/>
              </a:defRPr>
            </a:pPr>
            <a:r>
              <a:t>Logisim • Combinational Logic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C"/>
          </a:solidFill>
          <a:ln>
            <a:solidFill>
              <a:srgbClr val="070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9CFF"/>
          </a:solidFill>
          <a:ln>
            <a:solidFill>
              <a:srgbClr val="43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44200" y="-502920"/>
            <a:ext cx="1828800" cy="1828800"/>
          </a:xfrm>
          <a:prstGeom prst="ellipse">
            <a:avLst/>
          </a:prstGeom>
          <a:solidFill>
            <a:srgbClr val="102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0C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4ADDE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ABBBD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8F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353312"/>
            <a:ext cx="10424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BBBD5"/>
                </a:solidFill>
                <a:latin typeface="Aptos"/>
              </a:defRPr>
            </a:pPr>
            <a:r>
              <a:t>Why a decoding stage is needed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74519"/>
            <a:ext cx="5212080" cy="393192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1874519"/>
            <a:ext cx="54864" cy="3931920"/>
          </a:xfrm>
          <a:prstGeom prst="rect">
            <a:avLst/>
          </a:prstGeom>
          <a:solidFill>
            <a:srgbClr val="439CFF"/>
          </a:solidFill>
          <a:ln>
            <a:solidFill>
              <a:srgbClr val="43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7" y="2011679"/>
            <a:ext cx="48280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386584"/>
            <a:ext cx="4828032" cy="32918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ABBBD5"/>
                </a:solidFill>
                <a:latin typeface="Aptos"/>
              </a:defRPr>
            </a:pPr>
            <a:r>
              <a:t>A 4-bit input can represent 16 combinations (0000–1111), but the required display system is designed for decimal digits 0–9. A circuit is therefore needed to identify each valid binary pattern and activate the correct decimal output.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874519"/>
            <a:ext cx="5212080" cy="164592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874519"/>
            <a:ext cx="54864" cy="1645920"/>
          </a:xfrm>
          <a:prstGeom prst="rect">
            <a:avLst/>
          </a:prstGeom>
          <a:solidFill>
            <a:srgbClr val="FFB14F"/>
          </a:solidFill>
          <a:ln>
            <a:solidFill>
              <a:srgbClr val="FFB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27648" y="2011679"/>
            <a:ext cx="48280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386584"/>
            <a:ext cx="4828032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ABBBD5"/>
                </a:solidFill>
                <a:latin typeface="Aptos"/>
              </a:defRPr>
            </a:pPr>
            <a:r>
              <a:t>Inputs 1010–1111 do not correspond to the required decimal digit range 0–9.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794760"/>
            <a:ext cx="5212080" cy="201168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3794760"/>
            <a:ext cx="54864" cy="2011680"/>
          </a:xfrm>
          <a:prstGeom prst="rect">
            <a:avLst/>
          </a:prstGeom>
          <a:solidFill>
            <a:srgbClr val="4ADDEF"/>
          </a:solidFill>
          <a:ln>
            <a:solidFill>
              <a:srgbClr val="4A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3931920"/>
            <a:ext cx="48280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NEED FOR THE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4306824"/>
            <a:ext cx="482803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ABBBD5"/>
                </a:solidFill>
                <a:latin typeface="Aptos"/>
              </a:defRPr>
            </a:pPr>
            <a:r>
              <a:t>A structured decoder provides one active decimal line for each valid input and enables the selected value to drive the 7-segment display reliably.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BBBD5"/>
                </a:solidFill>
                <a:latin typeface="Aptos"/>
              </a:defRPr>
            </a:pPr>
            <a:r>
              <a:t>4-Bit Binary-to-Decimal Conversion &amp; Display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510528"/>
            <a:ext cx="3063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BBBD5"/>
                </a:solidFill>
                <a:latin typeface="Aptos"/>
              </a:defRPr>
            </a:pPr>
            <a:r>
              <a:t>Logisim • Combinational Logic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C"/>
          </a:solidFill>
          <a:ln>
            <a:solidFill>
              <a:srgbClr val="070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9CFF"/>
          </a:solidFill>
          <a:ln>
            <a:solidFill>
              <a:srgbClr val="43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44200" y="-502920"/>
            <a:ext cx="1828800" cy="1828800"/>
          </a:xfrm>
          <a:prstGeom prst="ellipse">
            <a:avLst/>
          </a:prstGeom>
          <a:solidFill>
            <a:srgbClr val="102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0C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4ADDEF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ABBBD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8FF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353312"/>
            <a:ext cx="10424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BBBD5"/>
                </a:solidFill>
                <a:latin typeface="Aptos"/>
              </a:defRPr>
            </a:pPr>
            <a:r>
              <a:t>Specific goals of the design and simulation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5074920" cy="96012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38528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4ADD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901952"/>
            <a:ext cx="40690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8FF"/>
                </a:solidFill>
                <a:latin typeface="Aptos"/>
              </a:defRPr>
            </a:pPr>
            <a:r>
              <a:t>Design a 4-to-10 binary-to-decimal decoder.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5074920" cy="96012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264408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8564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27832"/>
            <a:ext cx="40690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8FF"/>
                </a:solidFill>
                <a:latin typeface="Aptos"/>
              </a:defRPr>
            </a:pPr>
            <a:r>
              <a:t>Implement Boolean logic using NOT and AND gates.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5074920" cy="96012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590288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4ADD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553712"/>
            <a:ext cx="40690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8FF"/>
                </a:solidFill>
                <a:latin typeface="Aptos"/>
              </a:defRPr>
            </a:pPr>
            <a:r>
              <a:t>Connect decimal outputs to a 7-segment decoding stage.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828800"/>
            <a:ext cx="5074920" cy="96012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1938528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8564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901952"/>
            <a:ext cx="40690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8FF"/>
                </a:solidFill>
                <a:latin typeface="Aptos"/>
              </a:defRPr>
            </a:pPr>
            <a:r>
              <a:t>Simulate all valid inputs from 0000 to 1001.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154680"/>
            <a:ext cx="5074920" cy="96012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3264408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4ADDE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227832"/>
            <a:ext cx="406907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5F8FF"/>
                </a:solidFill>
                <a:latin typeface="Aptos"/>
              </a:defRPr>
            </a:pPr>
            <a:r>
              <a:t>Observe and verify the displayed decimal digit.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BBBD5"/>
                </a:solidFill>
                <a:latin typeface="Aptos"/>
              </a:defRPr>
            </a:pPr>
            <a:r>
              <a:t>4-Bit Binary-to-Decimal Conversion &amp; Display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6510528"/>
            <a:ext cx="3063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BBBD5"/>
                </a:solidFill>
                <a:latin typeface="Aptos"/>
              </a:defRPr>
            </a:pPr>
            <a:r>
              <a:t>Logisim • Combinational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C"/>
          </a:solidFill>
          <a:ln>
            <a:solidFill>
              <a:srgbClr val="070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9CFF"/>
          </a:solidFill>
          <a:ln>
            <a:solidFill>
              <a:srgbClr val="43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44200" y="-502920"/>
            <a:ext cx="1828800" cy="1828800"/>
          </a:xfrm>
          <a:prstGeom prst="ellipse">
            <a:avLst/>
          </a:prstGeom>
          <a:solidFill>
            <a:srgbClr val="102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0C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4ADDEF"/>
                </a:solidFill>
                <a:latin typeface="Aptos"/>
              </a:defRPr>
            </a:pPr>
            <a:r>
              <a:t>LITERATURE SURVEY / EXISTING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ABBBD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8FF"/>
                </a:solidFill>
                <a:latin typeface="Aptos"/>
              </a:defRPr>
            </a:pPr>
            <a:r>
              <a:t>Existing Approaches &amp; Their Limitations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429000" cy="356616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54864" cy="3566160"/>
          </a:xfrm>
          <a:prstGeom prst="rect">
            <a:avLst/>
          </a:prstGeom>
          <a:solidFill>
            <a:srgbClr val="439CFF"/>
          </a:solidFill>
          <a:ln>
            <a:solidFill>
              <a:srgbClr val="43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965960"/>
            <a:ext cx="30449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BOOLEAN DECODERS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340864"/>
            <a:ext cx="304495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ABBBD5"/>
                </a:solidFill>
                <a:latin typeface="Aptos"/>
              </a:defRPr>
            </a:pPr>
            <a:r>
              <a:t>Combinational decoder designs use Boolean expressions and logic gates to activate one output for each input combination.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28800"/>
            <a:ext cx="3429000" cy="356616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828800"/>
            <a:ext cx="54864" cy="3566160"/>
          </a:xfrm>
          <a:prstGeom prst="rect">
            <a:avLst/>
          </a:prstGeom>
          <a:solidFill>
            <a:srgbClr val="8564FF"/>
          </a:solidFill>
          <a:ln>
            <a:solidFill>
              <a:srgbClr val="85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1965960"/>
            <a:ext cx="30449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DECIMAL DECODING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340864"/>
            <a:ext cx="304495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ABBBD5"/>
                </a:solidFill>
                <a:latin typeface="Aptos"/>
              </a:defRPr>
            </a:pPr>
            <a:r>
              <a:t>A 4-to-10 decoder is suitable for representing decimal digits 0–9 from a 4-bit binary input.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828800"/>
            <a:ext cx="3429000" cy="356616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828800"/>
            <a:ext cx="54864" cy="3566160"/>
          </a:xfrm>
          <a:prstGeom prst="rect">
            <a:avLst/>
          </a:prstGeom>
          <a:solidFill>
            <a:srgbClr val="4ADDEF"/>
          </a:solidFill>
          <a:ln>
            <a:solidFill>
              <a:srgbClr val="4A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8" y="1965960"/>
            <a:ext cx="30449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DISPLAY STAGE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340864"/>
            <a:ext cx="304495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ABBBD5"/>
                </a:solidFill>
                <a:latin typeface="Aptos"/>
              </a:defRPr>
            </a:pPr>
            <a:r>
              <a:t>A 7-segment decoder converts the selected decimal value into segment-control signals. Basic designs need explicit handling for invalid inputs.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1024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5F8FF"/>
                </a:solidFill>
                <a:latin typeface="Aptos"/>
              </a:defRPr>
            </a:pPr>
            <a:r>
              <a:t>Design insight: separate the problem into decoding and display stages for easier verification.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BBBD5"/>
                </a:solidFill>
                <a:latin typeface="Aptos"/>
              </a:defRPr>
            </a:pPr>
            <a:r>
              <a:t>4-Bit Binary-to-Decimal Conversion &amp; Display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510528"/>
            <a:ext cx="3063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BBBD5"/>
                </a:solidFill>
                <a:latin typeface="Aptos"/>
              </a:defRPr>
            </a:pPr>
            <a:r>
              <a:t>Logisim • Combinational Logic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C"/>
          </a:solidFill>
          <a:ln>
            <a:solidFill>
              <a:srgbClr val="070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9CFF"/>
          </a:solidFill>
          <a:ln>
            <a:solidFill>
              <a:srgbClr val="43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44200" y="-502920"/>
            <a:ext cx="1828800" cy="1828800"/>
          </a:xfrm>
          <a:prstGeom prst="ellipse">
            <a:avLst/>
          </a:prstGeom>
          <a:solidFill>
            <a:srgbClr val="102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0C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4ADDEF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ABBBD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8FF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353312"/>
            <a:ext cx="10424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BBBD5"/>
                </a:solidFill>
                <a:latin typeface="Aptos"/>
              </a:defRPr>
            </a:pPr>
            <a:r>
              <a:t>A modular decoder-to-display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57400"/>
            <a:ext cx="2240280" cy="150876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2057400"/>
            <a:ext cx="2240280" cy="73152"/>
          </a:xfrm>
          <a:prstGeom prst="rect">
            <a:avLst/>
          </a:prstGeom>
          <a:solidFill>
            <a:srgbClr val="439CFF"/>
          </a:solidFill>
          <a:ln>
            <a:solidFill>
              <a:srgbClr val="43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439CFF"/>
                </a:solidFill>
                <a:latin typeface="Aptos"/>
              </a:defRPr>
            </a:pPr>
            <a:r>
              <a:t>4-BIT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5F8FF"/>
                </a:solidFill>
                <a:latin typeface="Aptos"/>
              </a:defRPr>
            </a:pPr>
            <a:r>
              <a:t>B3 B2 B1 B0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2487168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ABBBD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057400"/>
            <a:ext cx="2240280" cy="150876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474720" y="2057400"/>
            <a:ext cx="2240280" cy="73152"/>
          </a:xfrm>
          <a:prstGeom prst="rect">
            <a:avLst/>
          </a:prstGeom>
          <a:solidFill>
            <a:srgbClr val="8564FF"/>
          </a:solidFill>
          <a:ln>
            <a:solidFill>
              <a:srgbClr val="85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79" y="2331720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564FF"/>
                </a:solidFill>
                <a:latin typeface="Aptos"/>
              </a:defRPr>
            </a:pPr>
            <a:r>
              <a:t>4-TO-10 DECODER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79" y="2743200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5F8FF"/>
                </a:solidFill>
                <a:latin typeface="Aptos"/>
              </a:defRPr>
            </a:pPr>
            <a:r>
              <a:t>D0 … D9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487168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ABBBD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057400"/>
            <a:ext cx="2240280" cy="150876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0" y="2057400"/>
            <a:ext cx="2240280" cy="73152"/>
          </a:xfrm>
          <a:prstGeom prst="rect">
            <a:avLst/>
          </a:prstGeom>
          <a:solidFill>
            <a:srgbClr val="4ADDEF"/>
          </a:solidFill>
          <a:ln>
            <a:solidFill>
              <a:srgbClr val="4A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2331720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4ADDEF"/>
                </a:solidFill>
                <a:latin typeface="Aptos"/>
              </a:defRPr>
            </a:pPr>
            <a:r>
              <a:t>10-TO-7 DECODER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743200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5F8FF"/>
                </a:solidFill>
                <a:latin typeface="Aptos"/>
              </a:defRPr>
            </a:pPr>
            <a:r>
              <a:t>a b c d e f 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487168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ABBBD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2057400"/>
            <a:ext cx="2240280" cy="150876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326880" y="2057400"/>
            <a:ext cx="2240280" cy="73152"/>
          </a:xfrm>
          <a:prstGeom prst="rect">
            <a:avLst/>
          </a:prstGeom>
          <a:solidFill>
            <a:srgbClr val="52D691"/>
          </a:solidFill>
          <a:ln>
            <a:solidFill>
              <a:srgbClr val="52D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64040" y="2331720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52D691"/>
                </a:solidFill>
                <a:latin typeface="Aptos"/>
              </a:defRPr>
            </a:pPr>
            <a:r>
              <a:t>7-SEGMENT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743200"/>
            <a:ext cx="19659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5F8FF"/>
                </a:solidFill>
                <a:latin typeface="Aptos"/>
              </a:defRPr>
            </a:pPr>
            <a:r>
              <a:t>DIGIT 0–9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160520"/>
            <a:ext cx="3246120" cy="123444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14400" y="4160520"/>
            <a:ext cx="54864" cy="1234440"/>
          </a:xfrm>
          <a:prstGeom prst="rect">
            <a:avLst/>
          </a:prstGeom>
          <a:solidFill>
            <a:srgbClr val="439CFF"/>
          </a:solidFill>
          <a:ln>
            <a:solidFill>
              <a:srgbClr val="43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15568" y="4297680"/>
            <a:ext cx="28620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KEY FEATURE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4672583"/>
            <a:ext cx="286207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BBBD5"/>
                </a:solidFill>
                <a:latin typeface="Aptos"/>
              </a:defRPr>
            </a:pPr>
            <a:r>
              <a:t>Exactly one decimal output is active for each valid input.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4160520"/>
            <a:ext cx="3246120" cy="123444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80560" y="4160520"/>
            <a:ext cx="54864" cy="1234440"/>
          </a:xfrm>
          <a:prstGeom prst="rect">
            <a:avLst/>
          </a:prstGeom>
          <a:solidFill>
            <a:srgbClr val="8564FF"/>
          </a:solidFill>
          <a:ln>
            <a:solidFill>
              <a:srgbClr val="85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81728" y="4297680"/>
            <a:ext cx="28620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IMPROVEMENT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8" y="4672583"/>
            <a:ext cx="286207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BBBD5"/>
                </a:solidFill>
                <a:latin typeface="Aptos"/>
              </a:defRPr>
            </a:pPr>
            <a:r>
              <a:t>Simple modular stages make the design easier to simulate and verify.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4160520"/>
            <a:ext cx="3246120" cy="123444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46720" y="4160520"/>
            <a:ext cx="54864" cy="1234440"/>
          </a:xfrm>
          <a:prstGeom prst="rect">
            <a:avLst/>
          </a:prstGeom>
          <a:solidFill>
            <a:srgbClr val="4ADDEF"/>
          </a:solidFill>
          <a:ln>
            <a:solidFill>
              <a:srgbClr val="4A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47888" y="4297680"/>
            <a:ext cx="286207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VALID RANGE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7888" y="4672583"/>
            <a:ext cx="2862072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BBBD5"/>
                </a:solidFill>
                <a:latin typeface="Aptos"/>
              </a:defRPr>
            </a:pPr>
            <a:r>
              <a:t>0000–1001 → decimal 0–9.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BBBD5"/>
                </a:solidFill>
                <a:latin typeface="Aptos"/>
              </a:defRPr>
            </a:pPr>
            <a:r>
              <a:t>4-Bit Binary-to-Decimal Conversion &amp; Display System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6510528"/>
            <a:ext cx="3063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BBBD5"/>
                </a:solidFill>
                <a:latin typeface="Aptos"/>
              </a:defRPr>
            </a:pPr>
            <a:r>
              <a:t>Logisim • Combinational Logic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C"/>
          </a:solidFill>
          <a:ln>
            <a:solidFill>
              <a:srgbClr val="070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9CFF"/>
          </a:solidFill>
          <a:ln>
            <a:solidFill>
              <a:srgbClr val="43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44200" y="-502920"/>
            <a:ext cx="1828800" cy="1828800"/>
          </a:xfrm>
          <a:prstGeom prst="ellipse">
            <a:avLst/>
          </a:prstGeom>
          <a:solidFill>
            <a:srgbClr val="102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0C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4ADDEF"/>
                </a:solidFill>
                <a:latin typeface="Aptos"/>
              </a:defRPr>
            </a:pPr>
            <a:r>
              <a:t>METHODOLOGY /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ABBBD5"/>
                </a:solidFill>
                <a:latin typeface="Aptos"/>
              </a:defRPr>
            </a:pPr>
            <a:r>
              <a:rPr dirty="0"/>
              <a:t>0</a:t>
            </a:r>
            <a:r>
              <a:rPr lang="en-IN" dirty="0"/>
              <a:t>7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8FF"/>
                </a:solidFill>
                <a:latin typeface="Aptos"/>
              </a:defRPr>
            </a:pPr>
            <a:r>
              <a:t>Methodology &amp;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353312"/>
            <a:ext cx="10424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BBBD5"/>
                </a:solidFill>
                <a:latin typeface="Aptos"/>
              </a:defRPr>
            </a:pPr>
            <a:r>
              <a:t>Design steps • components • working principle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920240"/>
            <a:ext cx="2057400" cy="214884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4ADDE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60320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BBBD5"/>
                </a:solidFill>
                <a:latin typeface="Aptos"/>
              </a:defRPr>
            </a:pPr>
            <a:r>
              <a:t>Provide B3, B2, B1, B0.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98648" y="1920240"/>
            <a:ext cx="2057400" cy="214884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35808" y="210312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8564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2560320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INVERT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3063240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BBBD5"/>
                </a:solidFill>
                <a:latin typeface="Aptos"/>
              </a:defRPr>
            </a:pPr>
            <a:r>
              <a:t>Generate complemented inputs with NOT gates.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2936" y="1920240"/>
            <a:ext cx="2057400" cy="214884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40096" y="210312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4ADDE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2560320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DECODE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0096" y="3063240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BBBD5"/>
                </a:solidFill>
                <a:latin typeface="Aptos"/>
              </a:defRPr>
            </a:pPr>
            <a:r>
              <a:t>Build D0–D9 using 4-input AND gates.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07224" y="1920240"/>
            <a:ext cx="2057400" cy="214884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44384" y="210312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8564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4" y="2560320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DISPLAY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4384" y="3063240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BBBD5"/>
                </a:solidFill>
                <a:latin typeface="Aptos"/>
              </a:defRPr>
            </a:pPr>
            <a:r>
              <a:t>Feed the selected decimal line into the 7-segment stage.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11512" y="1920240"/>
            <a:ext cx="2057400" cy="214884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48672" y="2103120"/>
            <a:ext cx="457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4ADDE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2560320"/>
            <a:ext cx="1783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48672" y="3063240"/>
            <a:ext cx="1737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BBBD5"/>
                </a:solidFill>
                <a:latin typeface="Aptos"/>
              </a:defRPr>
            </a:pPr>
            <a:r>
              <a:t>Test valid inputs and observe the displayed digit.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4526280"/>
            <a:ext cx="10287000" cy="114300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88720" y="4681728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4ADDEF"/>
                </a:solidFill>
                <a:latin typeface="Aptos"/>
              </a:defRPr>
            </a:pPr>
            <a:r>
              <a:t>CORE BOOLEAN LOGIC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617720"/>
            <a:ext cx="77266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  <a:latin typeface="Aptos"/>
              </a:defRPr>
            </a:pPr>
            <a:r>
              <a:t>D0 = ¬B3 · ¬B2 · ¬B1 · ¬B0     D1 = ¬B3 · ¬B2 · ¬B1 · B0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63240" y="5047488"/>
            <a:ext cx="77266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BBBD5"/>
                </a:solidFill>
                <a:latin typeface="Aptos"/>
              </a:defRPr>
            </a:pPr>
            <a:r>
              <a:t>D2 = ¬B3 · ¬B2 · B1 · ¬B0       D3 = ¬B3 · ¬B2 · B1 · B0       D9 = B3 · ¬B2 · ¬B1 · B0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BBBD5"/>
                </a:solidFill>
                <a:latin typeface="Aptos"/>
              </a:defRPr>
            </a:pPr>
            <a:r>
              <a:t>4-Bit Binary-to-Decimal Conversion &amp; Display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6510528"/>
            <a:ext cx="3063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BBBD5"/>
                </a:solidFill>
                <a:latin typeface="Aptos"/>
              </a:defRPr>
            </a:pPr>
            <a:r>
              <a:t>Logisim • Combinational Logic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C"/>
          </a:solidFill>
          <a:ln>
            <a:solidFill>
              <a:srgbClr val="070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9CFF"/>
          </a:solidFill>
          <a:ln>
            <a:solidFill>
              <a:srgbClr val="43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44200" y="-502920"/>
            <a:ext cx="1828800" cy="1828800"/>
          </a:xfrm>
          <a:prstGeom prst="ellipse">
            <a:avLst/>
          </a:prstGeom>
          <a:solidFill>
            <a:srgbClr val="102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0C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4ADDEF"/>
                </a:solidFill>
                <a:latin typeface="Aptos"/>
              </a:defRPr>
            </a:pPr>
            <a:r>
              <a:t>RESULTS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ABBBD5"/>
                </a:solidFill>
                <a:latin typeface="Aptos"/>
              </a:defRPr>
            </a:pPr>
            <a:r>
              <a:rPr dirty="0"/>
              <a:t>0</a:t>
            </a:r>
            <a:r>
              <a:rPr lang="en-IN" dirty="0"/>
              <a:t>8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8FF"/>
                </a:solidFill>
                <a:latin typeface="Aptos"/>
              </a:defRPr>
            </a:pPr>
            <a:r>
              <a:t>Results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353312"/>
            <a:ext cx="10424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BBBD5"/>
                </a:solidFill>
                <a:latin typeface="Aptos"/>
              </a:defRPr>
            </a:pPr>
            <a:r>
              <a:t>Truth table + representative simulation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83080"/>
            <a:ext cx="5669280" cy="406908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93852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4ADDEF"/>
                </a:solidFill>
                <a:latin typeface="Aptos"/>
              </a:defRPr>
            </a:pPr>
            <a:r>
              <a:t>VALID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ABBBD5"/>
                </a:solidFill>
                <a:latin typeface="Aptos"/>
              </a:defRPr>
            </a:pPr>
            <a:r>
              <a:t>B3 B2 B1 B0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23160"/>
            <a:ext cx="2468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ABBBD5"/>
                </a:solidFill>
                <a:latin typeface="Aptos"/>
              </a:defRPr>
            </a:pPr>
            <a:r>
              <a:t>DEC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798064"/>
            <a:ext cx="5212080" cy="246888"/>
          </a:xfrm>
          <a:prstGeom prst="rect">
            <a:avLst/>
          </a:prstGeom>
          <a:solidFill>
            <a:srgbClr val="14223F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816352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0000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816352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4ADDEF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081528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0001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081528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4ADDE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328416"/>
            <a:ext cx="5212080" cy="246888"/>
          </a:xfrm>
          <a:prstGeom prst="rect">
            <a:avLst/>
          </a:prstGeom>
          <a:solidFill>
            <a:srgbClr val="14223F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346704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0010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346704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4ADDE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611880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0011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611880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4ADDE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3858768"/>
            <a:ext cx="5212080" cy="246888"/>
          </a:xfrm>
          <a:prstGeom prst="rect">
            <a:avLst/>
          </a:prstGeom>
          <a:solidFill>
            <a:srgbClr val="14223F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877056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0100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877056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4ADDE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142232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0101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142232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4ADDE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389120"/>
            <a:ext cx="5212080" cy="246888"/>
          </a:xfrm>
          <a:prstGeom prst="rect">
            <a:avLst/>
          </a:prstGeom>
          <a:solidFill>
            <a:srgbClr val="14223F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" y="4407408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0110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407408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4ADDE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672583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0111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672583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4ADDE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4919472"/>
            <a:ext cx="5212080" cy="246888"/>
          </a:xfrm>
          <a:prstGeom prst="rect">
            <a:avLst/>
          </a:prstGeom>
          <a:solidFill>
            <a:srgbClr val="14223F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4937760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1000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937760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4ADDE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202936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  <a:latin typeface="Aptos"/>
              </a:defRPr>
            </a:pPr>
            <a:r>
              <a:t>1001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202936"/>
            <a:ext cx="24688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4ADDE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37960" y="1828800"/>
            <a:ext cx="4983480" cy="91440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537960" y="1828800"/>
            <a:ext cx="54864" cy="914400"/>
          </a:xfrm>
          <a:prstGeom prst="rect">
            <a:avLst/>
          </a:prstGeom>
          <a:solidFill>
            <a:srgbClr val="439CFF"/>
          </a:solidFill>
          <a:ln>
            <a:solidFill>
              <a:srgbClr val="43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39128" y="1965960"/>
            <a:ext cx="45994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TEST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39128" y="2340864"/>
            <a:ext cx="45994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ABBBD5"/>
                </a:solidFill>
                <a:latin typeface="Aptos"/>
              </a:defRPr>
            </a:pPr>
            <a:r>
              <a:t>0000 → 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37960" y="2971800"/>
            <a:ext cx="4983480" cy="91440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537960" y="2971800"/>
            <a:ext cx="54864" cy="914400"/>
          </a:xfrm>
          <a:prstGeom prst="rect">
            <a:avLst/>
          </a:prstGeom>
          <a:solidFill>
            <a:srgbClr val="8564FF"/>
          </a:solidFill>
          <a:ln>
            <a:solidFill>
              <a:srgbClr val="856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39128" y="3108960"/>
            <a:ext cx="45994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TEST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39128" y="3483864"/>
            <a:ext cx="45994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ABBBD5"/>
                </a:solidFill>
                <a:latin typeface="Aptos"/>
              </a:defRPr>
            </a:pPr>
            <a:r>
              <a:t>0101 → 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37960" y="4114800"/>
            <a:ext cx="4983480" cy="91440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537960" y="4114800"/>
            <a:ext cx="54864" cy="914400"/>
          </a:xfrm>
          <a:prstGeom prst="rect">
            <a:avLst/>
          </a:prstGeom>
          <a:solidFill>
            <a:srgbClr val="4ADDEF"/>
          </a:solidFill>
          <a:ln>
            <a:solidFill>
              <a:srgbClr val="4ADD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739128" y="4251960"/>
            <a:ext cx="45994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TEST 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39128" y="4626864"/>
            <a:ext cx="459943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ABBBD5"/>
                </a:solidFill>
                <a:latin typeface="Aptos"/>
              </a:defRPr>
            </a:pPr>
            <a:r>
              <a:t>1000 → 8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37960" y="5257800"/>
            <a:ext cx="4983480" cy="64008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537960" y="5257800"/>
            <a:ext cx="54864" cy="640080"/>
          </a:xfrm>
          <a:prstGeom prst="rect">
            <a:avLst/>
          </a:prstGeom>
          <a:solidFill>
            <a:srgbClr val="52D691"/>
          </a:solidFill>
          <a:ln>
            <a:solidFill>
              <a:srgbClr val="52D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39128" y="5394960"/>
            <a:ext cx="45994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TEST 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39128" y="5769864"/>
            <a:ext cx="4599432" cy="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BBBD5"/>
                </a:solidFill>
                <a:latin typeface="Aptos"/>
              </a:defRPr>
            </a:pPr>
            <a:r>
              <a:t>1001 → 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BBBD5"/>
                </a:solidFill>
                <a:latin typeface="Aptos"/>
              </a:defRPr>
            </a:pPr>
            <a:r>
              <a:t>4-Bit Binary-to-Decimal Conversion &amp; Display System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6510528"/>
            <a:ext cx="3063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BBBD5"/>
                </a:solidFill>
                <a:latin typeface="Aptos"/>
              </a:defRPr>
            </a:pPr>
            <a:r>
              <a:t>Logisim • Combinational Logic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C"/>
          </a:solidFill>
          <a:ln>
            <a:solidFill>
              <a:srgbClr val="070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9CFF"/>
          </a:solidFill>
          <a:ln>
            <a:solidFill>
              <a:srgbClr val="43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44200" y="-502920"/>
            <a:ext cx="1828800" cy="1828800"/>
          </a:xfrm>
          <a:prstGeom prst="ellipse">
            <a:avLst/>
          </a:prstGeom>
          <a:solidFill>
            <a:srgbClr val="102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0C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347472"/>
            <a:ext cx="3200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4ADDE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ABBBD5"/>
                </a:solidFill>
                <a:latin typeface="Aptos"/>
              </a:defRPr>
            </a:pPr>
            <a:r>
              <a:rPr lang="en-IN" dirty="0"/>
              <a:t>09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94360" y="713232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5F8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353312"/>
            <a:ext cx="10424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BBBD5"/>
                </a:solidFill>
                <a:latin typeface="Aptos"/>
              </a:defRPr>
            </a:pPr>
            <a:r>
              <a:t>Project achievements and objective fulfillment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5257800" cy="356616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54864" cy="3566160"/>
          </a:xfrm>
          <a:prstGeom prst="rect">
            <a:avLst/>
          </a:prstGeom>
          <a:solidFill>
            <a:srgbClr val="52D691"/>
          </a:solidFill>
          <a:ln>
            <a:solidFill>
              <a:srgbClr val="52D6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1965960"/>
            <a:ext cx="48737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ACHIEVEMENTS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340864"/>
            <a:ext cx="487375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ABBBD5"/>
                </a:solidFill>
                <a:latin typeface="Aptos"/>
              </a:defRPr>
            </a:pPr>
            <a:r>
              <a:t>✓ 4-bit input decoded into decimal values 0–9.</a:t>
            </a:r>
            <a:br/>
            <a:br/>
            <a:r>
              <a:t>✓ NOT and AND gates provide the required combinational logic.</a:t>
            </a:r>
            <a:br/>
            <a:br/>
            <a:r>
              <a:t>✓ 7-segment decoding produces the corresponding visible digit.</a:t>
            </a:r>
            <a:br/>
            <a:br/>
            <a:r>
              <a:t>✓ Simulation confirms expected results for valid inputs.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828800"/>
            <a:ext cx="5257800" cy="3566160"/>
          </a:xfrm>
          <a:prstGeom prst="roundRect">
            <a:avLst>
              <a:gd name="adj" fmla="val 12000"/>
            </a:avLst>
          </a:prstGeom>
          <a:solidFill>
            <a:srgbClr val="0F1930"/>
          </a:solidFill>
          <a:ln>
            <a:solidFill>
              <a:srgbClr val="142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4864" cy="3566160"/>
          </a:xfrm>
          <a:prstGeom prst="rect">
            <a:avLst/>
          </a:prstGeom>
          <a:solidFill>
            <a:srgbClr val="FFB14F"/>
          </a:solidFill>
          <a:ln>
            <a:solidFill>
              <a:srgbClr val="FFB1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64807" y="1965960"/>
            <a:ext cx="487375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  <a:latin typeface="Aptos"/>
              </a:defRPr>
            </a:pPr>
            <a:r>
              <a:t>FUTURE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2340864"/>
            <a:ext cx="487375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ABBBD5"/>
                </a:solidFill>
                <a:latin typeface="Aptos"/>
              </a:defRPr>
            </a:pPr>
            <a:r>
              <a:t>Handle inputs 1010–1111 as blank / invalid states.</a:t>
            </a:r>
            <a:br/>
            <a:br/>
            <a:r>
              <a:t>The modular design can also be extended with additional display logic or input/output interfaces.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806440"/>
            <a:ext cx="9966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4ADDEF"/>
                </a:solidFill>
                <a:latin typeface="Aptos"/>
              </a:defRPr>
            </a:pPr>
            <a:r>
              <a:t>OBJECTIVE → DESIGN → SIMULATION →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ABBBD5"/>
                </a:solidFill>
                <a:latin typeface="Aptos"/>
              </a:defRPr>
            </a:pPr>
            <a:r>
              <a:t>4-Bit Binary-to-Decimal Conversion &amp; Display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6510528"/>
            <a:ext cx="3063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0">
                <a:solidFill>
                  <a:srgbClr val="ABBBD5"/>
                </a:solidFill>
                <a:latin typeface="Aptos"/>
              </a:defRPr>
            </a:pPr>
            <a:r>
              <a:t>Logisim • Combinational Logic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C"/>
          </a:solidFill>
          <a:ln>
            <a:solidFill>
              <a:srgbClr val="070D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39CFF"/>
          </a:solidFill>
          <a:ln>
            <a:solidFill>
              <a:srgbClr val="439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44200" y="-502920"/>
            <a:ext cx="1828800" cy="1828800"/>
          </a:xfrm>
          <a:prstGeom prst="ellipse">
            <a:avLst/>
          </a:prstGeom>
          <a:solidFill>
            <a:srgbClr val="1023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640080" y="5806440"/>
            <a:ext cx="1463040" cy="1463040"/>
          </a:xfrm>
          <a:prstGeom prst="ellipse">
            <a:avLst/>
          </a:prstGeom>
          <a:solidFill>
            <a:srgbClr val="0C1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2148840"/>
            <a:ext cx="8503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5F8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063240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>
                <a:solidFill>
                  <a:srgbClr val="4ADDE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846320"/>
            <a:ext cx="9418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ABBBD5"/>
                </a:solidFill>
                <a:latin typeface="Aptos"/>
              </a:defRPr>
            </a:pPr>
            <a:r>
              <a:t>Design and Simulation of a 4-Bit Binary-to-Decimal Conversion and Display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832</Words>
  <Application>Microsoft Office PowerPoint</Application>
  <PresentationFormat>Widescreen</PresentationFormat>
  <Paragraphs>159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srilakshmi devireddy</cp:lastModifiedBy>
  <cp:revision>1</cp:revision>
  <dcterms:created xsi:type="dcterms:W3CDTF">2013-01-27T09:14:16Z</dcterms:created>
  <dcterms:modified xsi:type="dcterms:W3CDTF">2026-09-11T07:58:01Z</dcterms:modified>
  <cp:category/>
</cp:coreProperties>
</file>